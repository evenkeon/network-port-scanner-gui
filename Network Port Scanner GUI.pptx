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4"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82" y="20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3/30/2026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3/30/2026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evenkeon/Network-Port-Scanner-GUI.git"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414398" y="4096019"/>
            <a:ext cx="3596300" cy="392646"/>
          </a:xfrm>
        </p:spPr>
        <p:txBody>
          <a:bodyPr/>
          <a:lstStyle/>
          <a:p>
            <a:pPr algn="r"/>
            <a:r>
              <a:rPr lang="en-US" b="0" dirty="0">
                <a:solidFill>
                  <a:schemeClr val="tx1"/>
                </a:solidFill>
              </a:rPr>
              <a:t>NAME - Samay Dipak Salunkhe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58572" y="1853096"/>
            <a:ext cx="6273578" cy="743448"/>
          </a:xfrm>
        </p:spPr>
        <p:txBody>
          <a:bodyPr>
            <a:normAutofit/>
          </a:bodyPr>
          <a:lstStyle/>
          <a:p>
            <a:r>
              <a:rPr lang="en-IN" sz="3600" b="1" dirty="0"/>
              <a:t>Network Port Scanner </a:t>
            </a:r>
            <a:br>
              <a:rPr lang="en-IN" sz="3600" b="1" dirty="0"/>
            </a:br>
            <a:r>
              <a:rPr lang="en-IN" sz="3600" b="1" dirty="0"/>
              <a:t>GUI</a:t>
            </a:r>
            <a:br>
              <a:rPr lang="en-IN"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5458572" y="5384412"/>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 Placeholder 1">
            <a:extLst>
              <a:ext uri="{FF2B5EF4-FFF2-40B4-BE49-F238E27FC236}">
                <a16:creationId xmlns:a16="http://schemas.microsoft.com/office/drawing/2014/main" id="{F66C6EBB-597F-CEA2-E411-D8210E2B116D}"/>
              </a:ext>
            </a:extLst>
          </p:cNvPr>
          <p:cNvSpPr txBox="1">
            <a:spLocks/>
          </p:cNvSpPr>
          <p:nvPr/>
        </p:nvSpPr>
        <p:spPr>
          <a:xfrm>
            <a:off x="4797496" y="4844174"/>
            <a:ext cx="5095252"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College Name - JSPM University, Pune</a:t>
            </a:r>
            <a:endParaRPr lang="en-IN" b="0" dirty="0">
              <a:solidFill>
                <a:schemeClr val="tx1"/>
              </a:solidFill>
            </a:endParaRPr>
          </a:p>
        </p:txBody>
      </p:sp>
      <p:sp>
        <p:nvSpPr>
          <p:cNvPr id="9" name="Text Placeholder 1">
            <a:extLst>
              <a:ext uri="{FF2B5EF4-FFF2-40B4-BE49-F238E27FC236}">
                <a16:creationId xmlns:a16="http://schemas.microsoft.com/office/drawing/2014/main" id="{8D468F96-767D-7AE9-4D4B-514C52317D97}"/>
              </a:ext>
            </a:extLst>
          </p:cNvPr>
          <p:cNvSpPr txBox="1">
            <a:spLocks/>
          </p:cNvSpPr>
          <p:nvPr/>
        </p:nvSpPr>
        <p:spPr>
          <a:xfrm>
            <a:off x="5414398" y="4488665"/>
            <a:ext cx="4833510" cy="398201"/>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a:t>
            </a:r>
            <a:r>
              <a:rPr lang="en-IN" b="0" dirty="0"/>
              <a:t>STU67683c93281951734884499</a:t>
            </a:r>
            <a:r>
              <a:rPr lang="en-US" b="0" dirty="0">
                <a:solidFill>
                  <a:schemeClr val="tx1"/>
                </a:solidFill>
              </a:rPr>
              <a:t> </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1" dur="500"/>
                                        <p:tgtEl>
                                          <p:spTgt spid="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6"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99262739-673E-3E60-A0E4-7473AAF4712E}"/>
              </a:ext>
            </a:extLst>
          </p:cNvPr>
          <p:cNvSpPr>
            <a:spLocks noGrp="1" noChangeArrowheads="1"/>
          </p:cNvSpPr>
          <p:nvPr>
            <p:ph type="body" sz="quarter" idx="12"/>
          </p:nvPr>
        </p:nvSpPr>
        <p:spPr bwMode="auto">
          <a:xfrm>
            <a:off x="538373" y="2431128"/>
            <a:ext cx="706307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Need:</a:t>
            </a:r>
            <a:r>
              <a:rPr kumimoji="0" lang="en-US" altLang="en-US" sz="1800" b="0" i="0" u="none" strike="noStrike" cap="none" normalizeH="0" baseline="0" dirty="0">
                <a:ln>
                  <a:noFill/>
                </a:ln>
                <a:solidFill>
                  <a:schemeClr val="tx1"/>
                </a:solidFill>
                <a:effectLst/>
                <a:latin typeface="Arial" panose="020B0604020202020204" pitchFamily="34" charset="0"/>
              </a:rPr>
              <a:t> Network administrators, developers, and cybersecurity students must regularly check systems for open, potentially vulnerable ports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Challenge:</a:t>
            </a:r>
            <a:r>
              <a:rPr kumimoji="0" lang="en-US" altLang="en-US" sz="1800" b="0" i="0" u="none" strike="noStrike" cap="none" normalizeH="0" baseline="0" dirty="0">
                <a:ln>
                  <a:noFill/>
                </a:ln>
                <a:solidFill>
                  <a:schemeClr val="tx1"/>
                </a:solidFill>
                <a:effectLst/>
                <a:latin typeface="Arial" panose="020B0604020202020204" pitchFamily="34" charset="0"/>
              </a:rPr>
              <a:t> Existing professional tools are heavily text-based, have a steep learning curve, and lack simple, visual progress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Goal:</a:t>
            </a:r>
            <a:r>
              <a:rPr kumimoji="0" lang="en-US" altLang="en-US" sz="1800" b="0" i="0" u="none" strike="noStrike" cap="none" normalizeH="0" baseline="0" dirty="0">
                <a:ln>
                  <a:noFill/>
                </a:ln>
                <a:solidFill>
                  <a:schemeClr val="tx1"/>
                </a:solidFill>
                <a:effectLst/>
                <a:latin typeface="Arial" panose="020B0604020202020204" pitchFamily="34" charset="0"/>
              </a:rPr>
              <a:t> To develop a lightweight, multi-threaded graphical application (GUI) that makes network scanning fast, accessible, and user-friendly.</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55470" y="566674"/>
            <a:ext cx="6276109" cy="830997"/>
          </a:xfrm>
        </p:spPr>
        <p:txBody>
          <a:bodyPr>
            <a:normAutofit fontScale="90000"/>
          </a:bodyPr>
          <a:lstStyle/>
          <a:p>
            <a:r>
              <a:rPr lang="en-GB" dirty="0"/>
              <a:t>PROJECT</a:t>
            </a:r>
            <a:r>
              <a:rPr lang="en-GB" sz="4400" dirty="0"/>
              <a:t> DESCRIPTION</a:t>
            </a:r>
            <a:br>
              <a:rPr lang="en-GB" dirty="0"/>
            </a:br>
            <a:br>
              <a:rPr lang="en-GB" dirty="0"/>
            </a:br>
            <a:br>
              <a:rPr lang="en-GB" sz="2000" dirty="0">
                <a:latin typeface="Arial" panose="020B0604020202020204" pitchFamily="34" charset="0"/>
                <a:cs typeface="Arial" panose="020B0604020202020204" pitchFamily="34" charset="0"/>
              </a:rPr>
            </a:br>
            <a:br>
              <a:rPr lang="en-GB" sz="2000" dirty="0">
                <a:latin typeface="Arial" panose="020B0604020202020204" pitchFamily="34" charset="0"/>
                <a:cs typeface="Arial" panose="020B0604020202020204" pitchFamily="34" charset="0"/>
              </a:rPr>
            </a:br>
            <a:br>
              <a:rPr lang="en-GB" sz="2000" dirty="0">
                <a:latin typeface="Arial" panose="020B0604020202020204" pitchFamily="34" charset="0"/>
                <a:cs typeface="Arial" panose="020B0604020202020204" pitchFamily="34" charset="0"/>
              </a:rPr>
            </a:br>
            <a:endParaRPr lang="en-IN" sz="2000" b="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6C61C155-510A-6565-0720-BCF7C7B5A12E}"/>
              </a:ext>
            </a:extLst>
          </p:cNvPr>
          <p:cNvSpPr txBox="1"/>
          <p:nvPr/>
        </p:nvSpPr>
        <p:spPr>
          <a:xfrm>
            <a:off x="755470" y="2580385"/>
            <a:ext cx="7036808" cy="2585323"/>
          </a:xfrm>
          <a:prstGeom prst="rect">
            <a:avLst/>
          </a:prstGeom>
          <a:noFill/>
        </p:spPr>
        <p:txBody>
          <a:bodyPr wrap="square">
            <a:spAutoFit/>
          </a:bodyPr>
          <a:lstStyle/>
          <a:p>
            <a:r>
              <a:rPr lang="en-US" b="1" dirty="0"/>
              <a:t>Project Overview</a:t>
            </a:r>
            <a:r>
              <a:rPr lang="en-US" dirty="0"/>
              <a:t> The Cyber Port Scanner is a lightweight, high-performance graphical network utility built in Python. Designed as an accessible alternative to complex command-line scanning tools, this application allows users to identify open TCP ports on target IP addresses or hostnames. By utilizing a multi-threaded architecture, the scanner can rapidly check thousands of ports in seconds without freezing the user interface, making it ideal for network administrators, cybersecurity students, and IT professionals conducting preliminary security audits.</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9" y="2186781"/>
            <a:ext cx="7005292" cy="3990023"/>
          </a:xfrm>
        </p:spPr>
        <p:txBody>
          <a:bodyPr>
            <a:normAutofit/>
          </a:bodyPr>
          <a:lstStyle/>
          <a:p>
            <a:r>
              <a:rPr lang="en-US" sz="1500" b="1" dirty="0">
                <a:latin typeface="Arial" panose="020B0604020202020204" pitchFamily="34" charset="0"/>
                <a:cs typeface="Arial" panose="020B0604020202020204" pitchFamily="34" charset="0"/>
              </a:rPr>
              <a:t>Cybersecurity &amp; IT Students</a:t>
            </a:r>
          </a:p>
          <a:p>
            <a:pPr marL="0" indent="0">
              <a:buNone/>
            </a:pPr>
            <a:r>
              <a:rPr lang="en-US" sz="1500" b="1" dirty="0">
                <a:latin typeface="Arial" panose="020B0604020202020204" pitchFamily="34" charset="0"/>
                <a:cs typeface="Arial" panose="020B0604020202020204" pitchFamily="34" charset="0"/>
              </a:rPr>
              <a:t>Why they use it:</a:t>
            </a:r>
            <a:r>
              <a:rPr lang="en-US" sz="1500" dirty="0">
                <a:latin typeface="Arial" panose="020B0604020202020204" pitchFamily="34" charset="0"/>
                <a:cs typeface="Arial" panose="020B0604020202020204" pitchFamily="34" charset="0"/>
              </a:rPr>
              <a:t> Students learning about networking, ethical hacking, or system administration often find complex command-line tools (like Nmap) intimidating at first.</a:t>
            </a:r>
          </a:p>
          <a:p>
            <a:pPr marL="0" indent="0">
              <a:buNone/>
            </a:pPr>
            <a:r>
              <a:rPr lang="en-US" sz="1500" b="1" dirty="0">
                <a:latin typeface="Arial" panose="020B0604020202020204" pitchFamily="34" charset="0"/>
                <a:cs typeface="Arial" panose="020B0604020202020204" pitchFamily="34" charset="0"/>
              </a:rPr>
              <a:t>How it helps:</a:t>
            </a:r>
            <a:r>
              <a:rPr lang="en-US" sz="1500" dirty="0">
                <a:latin typeface="Arial" panose="020B0604020202020204" pitchFamily="34" charset="0"/>
                <a:cs typeface="Arial" panose="020B0604020202020204" pitchFamily="34" charset="0"/>
              </a:rPr>
              <a:t> Your visual UI, clear progress bars, and color-coded results make it much easier for them to grasp the concept of open/closed ports and network mapping without getting lost in terminal syntax.</a:t>
            </a:r>
          </a:p>
          <a:p>
            <a:r>
              <a:rPr lang="en-US" sz="1500" b="1" dirty="0"/>
              <a:t>Software Developers &amp; Engineers</a:t>
            </a:r>
          </a:p>
          <a:p>
            <a:pPr marL="0" indent="0">
              <a:buNone/>
            </a:pPr>
            <a:r>
              <a:rPr lang="en-US" sz="1500" b="1" dirty="0"/>
              <a:t>Why they use it:</a:t>
            </a:r>
            <a:r>
              <a:rPr lang="en-US" sz="1500" dirty="0"/>
              <a:t> Developers frequently build applications that communicate over specific network ports (like a web app on port 8080, a database on 5432, or a local server on 3000).</a:t>
            </a:r>
          </a:p>
          <a:p>
            <a:pPr marL="0" indent="0">
              <a:buNone/>
            </a:pPr>
            <a:r>
              <a:rPr lang="en-US" sz="1500" b="1" dirty="0"/>
              <a:t>How it helps:</a:t>
            </a:r>
            <a:r>
              <a:rPr lang="en-US" sz="1500" dirty="0"/>
              <a:t> They can use your tool to quickly verify if their local server is running, if a port is successfully exposed, or if a firewall is blocking their application's traffic.</a:t>
            </a:r>
          </a:p>
          <a:p>
            <a:pPr algn="just">
              <a:lnSpc>
                <a:spcPct val="150000"/>
              </a:lnSpc>
            </a:pPr>
            <a:endParaRPr lang="en-IN" sz="1800" dirty="0">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545802"/>
            <a:ext cx="10046070" cy="802641"/>
          </a:xfrm>
        </p:spPr>
        <p:txBody>
          <a:bodyPr>
            <a:normAutofit/>
          </a:bodyPr>
          <a:lstStyle/>
          <a:p>
            <a:r>
              <a:rPr lang="en-US" sz="4300" dirty="0"/>
              <a:t>WHO</a:t>
            </a:r>
            <a:r>
              <a:rPr lang="en-US" sz="3200" dirty="0"/>
              <a:t>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620008" y="6372225"/>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8350" y="557788"/>
            <a:ext cx="5306291" cy="847817"/>
          </a:xfrm>
        </p:spPr>
        <p:txBody>
          <a:bodyPr>
            <a:normAutofit/>
          </a:bodyPr>
          <a:lstStyle/>
          <a:p>
            <a:r>
              <a:rPr lang="en-US" sz="4300" dirty="0"/>
              <a:t>Technology Used</a:t>
            </a:r>
          </a:p>
        </p:txBody>
      </p:sp>
      <p:sp>
        <p:nvSpPr>
          <p:cNvPr id="3" name="Rectangle 1">
            <a:extLst>
              <a:ext uri="{FF2B5EF4-FFF2-40B4-BE49-F238E27FC236}">
                <a16:creationId xmlns:a16="http://schemas.microsoft.com/office/drawing/2014/main" id="{E9E6A766-9EA9-87D0-5F72-F45F63CC0998}"/>
              </a:ext>
            </a:extLst>
          </p:cNvPr>
          <p:cNvSpPr>
            <a:spLocks noGrp="1" noChangeArrowheads="1"/>
          </p:cNvSpPr>
          <p:nvPr>
            <p:ph type="body" sz="quarter" idx="12"/>
          </p:nvPr>
        </p:nvSpPr>
        <p:spPr bwMode="auto">
          <a:xfrm>
            <a:off x="2186610" y="2349301"/>
            <a:ext cx="7378809"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Core Language:</a:t>
            </a:r>
            <a:r>
              <a:rPr kumimoji="0" lang="en-US" altLang="en-US" sz="1600" b="0" i="0" u="none" strike="noStrike" cap="none" normalizeH="0" baseline="0" dirty="0">
                <a:ln>
                  <a:noFill/>
                </a:ln>
                <a:solidFill>
                  <a:schemeClr val="tx1"/>
                </a:solidFill>
                <a:effectLst/>
                <a:latin typeface="Arial" panose="020B0604020202020204" pitchFamily="34" charset="0"/>
              </a:rPr>
              <a:t> Python 3 </a:t>
            </a:r>
            <a:r>
              <a:rPr kumimoji="0" lang="en-US" altLang="en-US" sz="1600" b="0" i="1" u="none" strike="noStrike" cap="none" normalizeH="0" baseline="0" dirty="0">
                <a:ln>
                  <a:noFill/>
                </a:ln>
                <a:solidFill>
                  <a:schemeClr val="tx1"/>
                </a:solidFill>
                <a:effectLst/>
                <a:latin typeface="Arial" panose="020B0604020202020204" pitchFamily="34" charset="0"/>
              </a:rPr>
              <a:t>(Logic and execution)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Graphical Interface: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Tkinter</a:t>
            </a:r>
            <a:r>
              <a:rPr kumimoji="0" lang="en-US" altLang="en-US" sz="1600" b="0" i="0" u="none" strike="noStrike" cap="none" normalizeH="0" baseline="0" dirty="0">
                <a:ln>
                  <a:noFill/>
                </a:ln>
                <a:solidFill>
                  <a:schemeClr val="tx1"/>
                </a:solidFill>
                <a:effectLst/>
                <a:latin typeface="Arial" panose="020B0604020202020204" pitchFamily="34" charset="0"/>
              </a:rPr>
              <a:t> &amp; TTK </a:t>
            </a:r>
            <a:r>
              <a:rPr kumimoji="0" lang="en-US" altLang="en-US" sz="1600" b="0" i="1" u="none" strike="noStrike" cap="none" normalizeH="0" baseline="0" dirty="0">
                <a:ln>
                  <a:noFill/>
                </a:ln>
                <a:solidFill>
                  <a:schemeClr val="tx1"/>
                </a:solidFill>
                <a:effectLst/>
                <a:latin typeface="Arial" panose="020B0604020202020204" pitchFamily="34" charset="0"/>
              </a:rPr>
              <a:t>(Used to build the custom, dark-themed GUI)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Networking Engine:</a:t>
            </a:r>
            <a:r>
              <a:rPr kumimoji="0" lang="en-US" altLang="en-US" sz="1600" b="0" i="0" u="none" strike="noStrike" cap="none" normalizeH="0" baseline="0" dirty="0">
                <a:ln>
                  <a:noFill/>
                </a:ln>
                <a:solidFill>
                  <a:schemeClr val="tx1"/>
                </a:solidFill>
                <a:effectLst/>
                <a:latin typeface="Arial" panose="020B0604020202020204" pitchFamily="34" charset="0"/>
              </a:rPr>
              <a:t> Python </a:t>
            </a:r>
            <a:r>
              <a:rPr kumimoji="0" lang="en-US" altLang="en-US" sz="1600" b="0" i="0" u="none" strike="noStrike" cap="none" normalizeH="0" baseline="0" dirty="0">
                <a:ln>
                  <a:noFill/>
                </a:ln>
                <a:solidFill>
                  <a:schemeClr val="tx1"/>
                </a:solidFill>
                <a:effectLst/>
                <a:latin typeface="Arial Unicode MS"/>
              </a:rPr>
              <a:t>socket</a:t>
            </a:r>
            <a:r>
              <a:rPr kumimoji="0" lang="en-US" altLang="en-US" sz="1600" b="0" i="0" u="none" strike="noStrike" cap="none" normalizeH="0" baseline="0" dirty="0">
                <a:ln>
                  <a:noFill/>
                </a:ln>
                <a:solidFill>
                  <a:schemeClr val="tx1"/>
                </a:solidFill>
                <a:effectLst/>
              </a:rPr>
              <a:t> Library </a:t>
            </a:r>
            <a:r>
              <a:rPr kumimoji="0" lang="en-US" altLang="en-US" sz="1600" b="0" i="1" u="none" strike="noStrike" cap="none" normalizeH="0" baseline="0" dirty="0">
                <a:ln>
                  <a:noFill/>
                </a:ln>
                <a:solidFill>
                  <a:schemeClr val="tx1"/>
                </a:solidFill>
                <a:effectLst/>
                <a:latin typeface="Arial" panose="020B0604020202020204" pitchFamily="34" charset="0"/>
              </a:rPr>
              <a:t>(Handles the TCP connection requests)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Concurrency Engine: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threading</a:t>
            </a:r>
            <a:r>
              <a:rPr kumimoji="0" lang="en-US" altLang="en-US" sz="1600" b="0" i="0" u="none" strike="noStrike" cap="none" normalizeH="0" baseline="0" dirty="0">
                <a:ln>
                  <a:noFill/>
                </a:ln>
                <a:solidFill>
                  <a:schemeClr val="tx1"/>
                </a:solidFill>
                <a:effectLst/>
              </a:rPr>
              <a:t> &amp; </a:t>
            </a:r>
            <a:r>
              <a:rPr kumimoji="0" lang="en-US" altLang="en-US" sz="1600" b="0" i="0" u="none" strike="noStrike" cap="none" normalizeH="0" baseline="0" dirty="0">
                <a:ln>
                  <a:noFill/>
                </a:ln>
                <a:solidFill>
                  <a:schemeClr val="tx1"/>
                </a:solidFill>
                <a:effectLst/>
                <a:latin typeface="Arial Unicode MS"/>
              </a:rPr>
              <a:t>queue</a:t>
            </a:r>
            <a:r>
              <a:rPr kumimoji="0" lang="en-US" altLang="en-US" sz="1600" b="0" i="0" u="none" strike="noStrike" cap="none" normalizeH="0" baseline="0" dirty="0">
                <a:ln>
                  <a:noFill/>
                </a:ln>
                <a:solidFill>
                  <a:schemeClr val="tx1"/>
                </a:solidFill>
                <a:effectLst/>
              </a:rPr>
              <a:t> Modules </a:t>
            </a:r>
            <a:r>
              <a:rPr kumimoji="0" lang="en-US" altLang="en-US" sz="1600" b="0" i="1" u="none" strike="noStrike" cap="none" normalizeH="0" baseline="0" dirty="0">
                <a:ln>
                  <a:noFill/>
                </a:ln>
                <a:solidFill>
                  <a:schemeClr val="tx1"/>
                </a:solidFill>
                <a:effectLst/>
                <a:latin typeface="Arial" panose="020B0604020202020204" pitchFamily="34" charset="0"/>
              </a:rPr>
              <a:t>(Enables fast, multi-threaded scanning of multiple ports at once)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Data Management: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datetime</a:t>
            </a:r>
            <a:r>
              <a:rPr kumimoji="0" lang="en-US" altLang="en-US" sz="1600" b="0" i="0" u="none" strike="noStrike" cap="none" normalizeH="0" baseline="0" dirty="0">
                <a:ln>
                  <a:noFill/>
                </a:ln>
                <a:solidFill>
                  <a:schemeClr val="tx1"/>
                </a:solidFill>
                <a:effectLst/>
              </a:rPr>
              <a:t> &amp; File I/O </a:t>
            </a:r>
            <a:r>
              <a:rPr kumimoji="0" lang="en-US" altLang="en-US" sz="1600" b="0" i="1" u="none" strike="noStrike" cap="none" normalizeH="0" baseline="0" dirty="0">
                <a:ln>
                  <a:noFill/>
                </a:ln>
                <a:solidFill>
                  <a:schemeClr val="tx1"/>
                </a:solidFill>
                <a:effectLst/>
                <a:latin typeface="Arial" panose="020B0604020202020204" pitchFamily="34" charset="0"/>
              </a:rPr>
              <a:t>(Used for real-time clock tracking and saving exportable text logs)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424219" y="1302387"/>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1820861" y="4135136"/>
            <a:ext cx="4275138" cy="477520"/>
          </a:xfrm>
        </p:spPr>
        <p:txBody>
          <a:bodyPr/>
          <a:lstStyle/>
          <a:p>
            <a:pPr marL="0" indent="0">
              <a:buNone/>
            </a:pPr>
            <a:endParaRPr lang="en-IN" dirty="0"/>
          </a:p>
        </p:txBody>
      </p:sp>
      <p:pic>
        <p:nvPicPr>
          <p:cNvPr id="2" name="Picture 1">
            <a:extLst>
              <a:ext uri="{FF2B5EF4-FFF2-40B4-BE49-F238E27FC236}">
                <a16:creationId xmlns:a16="http://schemas.microsoft.com/office/drawing/2014/main" id="{2584E751-F0E9-B615-4B49-EC9C0221BF9B}"/>
              </a:ext>
            </a:extLst>
          </p:cNvPr>
          <p:cNvPicPr>
            <a:picLocks noChangeAspect="1"/>
          </p:cNvPicPr>
          <p:nvPr/>
        </p:nvPicPr>
        <p:blipFill>
          <a:blip r:embed="rId4"/>
          <a:stretch>
            <a:fillRect/>
          </a:stretch>
        </p:blipFill>
        <p:spPr>
          <a:xfrm>
            <a:off x="648175" y="6130925"/>
            <a:ext cx="2181225" cy="485775"/>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906FEF36-A52A-0D1F-6524-DF15AF51DB92}"/>
              </a:ext>
            </a:extLst>
          </p:cNvPr>
          <p:cNvPicPr>
            <a:picLocks noChangeAspect="1"/>
          </p:cNvPicPr>
          <p:nvPr/>
        </p:nvPicPr>
        <p:blipFill>
          <a:blip r:embed="rId5"/>
          <a:stretch>
            <a:fillRect/>
          </a:stretch>
        </p:blipFill>
        <p:spPr>
          <a:xfrm>
            <a:off x="894521" y="1595067"/>
            <a:ext cx="7001124" cy="467851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AC2E1703-3FDF-BA6A-73F3-3F022646F2B6}"/>
              </a:ext>
            </a:extLst>
          </p:cNvPr>
          <p:cNvPicPr>
            <a:picLocks noChangeAspect="1"/>
          </p:cNvPicPr>
          <p:nvPr/>
        </p:nvPicPr>
        <p:blipFill>
          <a:blip r:embed="rId4"/>
          <a:stretch>
            <a:fillRect/>
          </a:stretch>
        </p:blipFill>
        <p:spPr>
          <a:xfrm>
            <a:off x="637857" y="6026564"/>
            <a:ext cx="2181225" cy="485775"/>
          </a:xfrm>
          <a:prstGeom prst="rect">
            <a:avLst/>
          </a:prstGeom>
        </p:spPr>
      </p:pic>
      <p:pic>
        <p:nvPicPr>
          <p:cNvPr id="6" name="Picture 5">
            <a:extLst>
              <a:ext uri="{FF2B5EF4-FFF2-40B4-BE49-F238E27FC236}">
                <a16:creationId xmlns:a16="http://schemas.microsoft.com/office/drawing/2014/main" id="{998122EF-2EA4-A77F-1B9E-2F96431D00DC}"/>
              </a:ext>
            </a:extLst>
          </p:cNvPr>
          <p:cNvPicPr>
            <a:picLocks noChangeAspect="1"/>
          </p:cNvPicPr>
          <p:nvPr/>
        </p:nvPicPr>
        <p:blipFill>
          <a:blip r:embed="rId5"/>
          <a:stretch>
            <a:fillRect/>
          </a:stretch>
        </p:blipFill>
        <p:spPr>
          <a:xfrm>
            <a:off x="807164" y="1521838"/>
            <a:ext cx="7160043" cy="4805522"/>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869957CD-5CA3-79CB-E355-AA30B44A3EDC}"/>
              </a:ext>
            </a:extLst>
          </p:cNvPr>
          <p:cNvPicPr>
            <a:picLocks noChangeAspect="1"/>
          </p:cNvPicPr>
          <p:nvPr/>
        </p:nvPicPr>
        <p:blipFill>
          <a:blip r:embed="rId2"/>
          <a:stretch>
            <a:fillRect/>
          </a:stretch>
        </p:blipFill>
        <p:spPr>
          <a:xfrm>
            <a:off x="620008" y="6372225"/>
            <a:ext cx="2181225" cy="485775"/>
          </a:xfrm>
          <a:prstGeom prst="rect">
            <a:avLst/>
          </a:prstGeom>
        </p:spPr>
      </p:pic>
      <p:pic>
        <p:nvPicPr>
          <p:cNvPr id="6" name="Picture 5">
            <a:extLst>
              <a:ext uri="{FF2B5EF4-FFF2-40B4-BE49-F238E27FC236}">
                <a16:creationId xmlns:a16="http://schemas.microsoft.com/office/drawing/2014/main" id="{BF572079-591E-ED4B-44CF-2699D0408319}"/>
              </a:ext>
            </a:extLst>
          </p:cNvPr>
          <p:cNvPicPr>
            <a:picLocks noChangeAspect="1"/>
          </p:cNvPicPr>
          <p:nvPr/>
        </p:nvPicPr>
        <p:blipFill>
          <a:blip r:embed="rId3"/>
          <a:stretch>
            <a:fillRect/>
          </a:stretch>
        </p:blipFill>
        <p:spPr>
          <a:xfrm>
            <a:off x="1171895" y="2058213"/>
            <a:ext cx="6589472" cy="4198289"/>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35C852F4-5AFD-AA38-91EA-0883689AEC93}"/>
              </a:ext>
            </a:extLst>
          </p:cNvPr>
          <p:cNvPicPr>
            <a:picLocks noChangeAspect="1"/>
          </p:cNvPicPr>
          <p:nvPr/>
        </p:nvPicPr>
        <p:blipFill>
          <a:blip r:embed="rId2"/>
          <a:stretch>
            <a:fillRect/>
          </a:stretch>
        </p:blipFill>
        <p:spPr>
          <a:xfrm>
            <a:off x="1199655" y="2011680"/>
            <a:ext cx="6533952" cy="4244822"/>
          </a:xfrm>
          <a:prstGeom prst="rect">
            <a:avLst/>
          </a:prstGeom>
        </p:spPr>
      </p:pic>
      <p:pic>
        <p:nvPicPr>
          <p:cNvPr id="4" name="Picture 3">
            <a:extLst>
              <a:ext uri="{FF2B5EF4-FFF2-40B4-BE49-F238E27FC236}">
                <a16:creationId xmlns:a16="http://schemas.microsoft.com/office/drawing/2014/main" id="{CAD7DA1D-FB40-EC29-B447-3587CF2C9B14}"/>
              </a:ext>
            </a:extLst>
          </p:cNvPr>
          <p:cNvPicPr>
            <a:picLocks noChangeAspect="1"/>
          </p:cNvPicPr>
          <p:nvPr/>
        </p:nvPicPr>
        <p:blipFill>
          <a:blip r:embed="rId3"/>
          <a:stretch>
            <a:fillRect/>
          </a:stretch>
        </p:blipFill>
        <p:spPr>
          <a:xfrm>
            <a:off x="620008" y="6372225"/>
            <a:ext cx="2181225" cy="485775"/>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a:p>
            <a:endParaRPr lang="en-IN" b="1" dirty="0">
              <a:solidFill>
                <a:schemeClr val="tx1"/>
              </a:solidFill>
            </a:endParaRPr>
          </a:p>
          <a:p>
            <a:endParaRPr lang="en-IN" b="1" dirty="0">
              <a:solidFill>
                <a:schemeClr val="tx1"/>
              </a:solidFill>
            </a:endParaRPr>
          </a:p>
          <a:p>
            <a:endParaRPr lang="en-IN" b="1" dirty="0">
              <a:solidFill>
                <a:schemeClr val="tx1"/>
              </a:solidFill>
            </a:endParaRPr>
          </a:p>
          <a:p>
            <a:endParaRPr lang="en-IN" b="1" dirty="0">
              <a:solidFill>
                <a:schemeClr val="tx1"/>
              </a:solidFill>
            </a:endParaRPr>
          </a:p>
          <a:p>
            <a:endParaRPr lang="en-IN" sz="2000" b="1" dirty="0">
              <a:solidFill>
                <a:schemeClr val="tx1"/>
              </a:solidFill>
            </a:endParaRPr>
          </a:p>
        </p:txBody>
      </p:sp>
      <p:sp>
        <p:nvSpPr>
          <p:cNvPr id="5" name="TextBox 4">
            <a:extLst>
              <a:ext uri="{FF2B5EF4-FFF2-40B4-BE49-F238E27FC236}">
                <a16:creationId xmlns:a16="http://schemas.microsoft.com/office/drawing/2014/main" id="{0FB32C5F-4F1C-A188-8FA1-BCD2366DBEC6}"/>
              </a:ext>
            </a:extLst>
          </p:cNvPr>
          <p:cNvSpPr txBox="1"/>
          <p:nvPr/>
        </p:nvSpPr>
        <p:spPr>
          <a:xfrm>
            <a:off x="1551297" y="2951946"/>
            <a:ext cx="7722705" cy="954107"/>
          </a:xfrm>
          <a:prstGeom prst="rect">
            <a:avLst/>
          </a:prstGeom>
          <a:noFill/>
        </p:spPr>
        <p:txBody>
          <a:bodyPr wrap="square">
            <a:spAutoFit/>
          </a:bodyPr>
          <a:lstStyle/>
          <a:p>
            <a:r>
              <a:rPr lang="en-IN" sz="2800" dirty="0">
                <a:hlinkClick r:id="rId2"/>
              </a:rPr>
              <a:t>https://github.com/evenkeon/Network-Port-Scanner-GUI.git</a:t>
            </a:r>
            <a:endParaRPr lang="en-IN" sz="2800" dirty="0"/>
          </a:p>
        </p:txBody>
      </p:sp>
      <p:pic>
        <p:nvPicPr>
          <p:cNvPr id="6" name="Picture 5">
            <a:extLst>
              <a:ext uri="{FF2B5EF4-FFF2-40B4-BE49-F238E27FC236}">
                <a16:creationId xmlns:a16="http://schemas.microsoft.com/office/drawing/2014/main" id="{2FFC8D9A-A1FD-540D-22B8-FD0D16112F1A}"/>
              </a:ext>
            </a:extLst>
          </p:cNvPr>
          <p:cNvPicPr>
            <a:picLocks noChangeAspect="1"/>
          </p:cNvPicPr>
          <p:nvPr/>
        </p:nvPicPr>
        <p:blipFill>
          <a:blip r:embed="rId3"/>
          <a:stretch>
            <a:fillRect/>
          </a:stretch>
        </p:blipFill>
        <p:spPr>
          <a:xfrm>
            <a:off x="620008" y="6372225"/>
            <a:ext cx="2181225" cy="485775"/>
          </a:xfrm>
          <a:prstGeom prst="rect">
            <a:avLst/>
          </a:prstGeom>
        </p:spPr>
      </p:pic>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984609"/>
            <a:ext cx="11340000" cy="700114"/>
          </a:xfrm>
          <a:prstGeom prst="rect">
            <a:avLst/>
          </a:prstGeom>
        </p:spPr>
        <p:txBody>
          <a:bodyPr anchor="ctr">
            <a:noAutofit/>
          </a:bodyPr>
          <a:lstStyle/>
          <a:p>
            <a:pPr algn="ctr"/>
            <a:r>
              <a:rPr lang="en-US" sz="6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rot="10800000" flipH="1" flipV="1">
            <a:off x="11939559" y="6459483"/>
            <a:ext cx="252035" cy="110807"/>
          </a:xfrm>
        </p:spPr>
        <p:txBody>
          <a:bodyPr>
            <a:normAutofit/>
          </a:bodyPr>
          <a:lstStyle/>
          <a:p>
            <a:endParaRPr lang="en-US" dirty="0"/>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rot="10800000" flipV="1">
            <a:off x="12008067" y="6483032"/>
            <a:ext cx="115021" cy="279374"/>
          </a:xfrm>
        </p:spPr>
        <p:txBody>
          <a:bodyPr>
            <a:normAutofit fontScale="92500" lnSpcReduction="20000"/>
          </a:bodyPr>
          <a:lstStyle/>
          <a:p>
            <a:endParaRPr lang="en-IN" dirty="0"/>
          </a:p>
        </p:txBody>
      </p:sp>
      <p:pic>
        <p:nvPicPr>
          <p:cNvPr id="2" name="Picture 1">
            <a:extLst>
              <a:ext uri="{FF2B5EF4-FFF2-40B4-BE49-F238E27FC236}">
                <a16:creationId xmlns:a16="http://schemas.microsoft.com/office/drawing/2014/main" id="{9DCDFAFB-44EA-6E5B-D8D9-82C68FE282D2}"/>
              </a:ext>
            </a:extLst>
          </p:cNvPr>
          <p:cNvPicPr>
            <a:picLocks noChangeAspect="1"/>
          </p:cNvPicPr>
          <p:nvPr/>
        </p:nvPicPr>
        <p:blipFill>
          <a:blip r:embed="rId2"/>
          <a:stretch>
            <a:fillRect/>
          </a:stretch>
        </p:blipFill>
        <p:spPr>
          <a:xfrm>
            <a:off x="620008" y="6372225"/>
            <a:ext cx="2181225" cy="485775"/>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666</TotalTime>
  <Words>460</Words>
  <Application>Microsoft Office PowerPoint</Application>
  <PresentationFormat>Widescreen</PresentationFormat>
  <Paragraphs>44</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Unicode MS</vt:lpstr>
      <vt:lpstr>Calibri</vt:lpstr>
      <vt:lpstr>Trebuchet MS</vt:lpstr>
      <vt:lpstr>Wingdings</vt:lpstr>
      <vt:lpstr>Wingdings 3</vt:lpstr>
      <vt:lpstr>Facet</vt:lpstr>
      <vt:lpstr>Network Port Scanner  GUI </vt:lpstr>
      <vt:lpstr>PROBLEM  STATEMENT</vt:lpstr>
      <vt:lpstr>PROJECT DESCRIPTION     </vt:lpstr>
      <vt:lpstr>WHO ARE THE END USERS?</vt:lpstr>
      <vt:lpstr>Technology Used</vt:lpstr>
      <vt:lpstr>RESULTS </vt:lpstr>
      <vt:lpstr>RESULTS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Samay Salunkhe</cp:lastModifiedBy>
  <cp:revision>82</cp:revision>
  <dcterms:created xsi:type="dcterms:W3CDTF">2021-07-11T13:13:15Z</dcterms:created>
  <dcterms:modified xsi:type="dcterms:W3CDTF">2026-03-30T14:36:56Z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